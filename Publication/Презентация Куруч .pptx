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646" r:id="rId1"/>
  </p:sldMasterIdLst>
  <p:notesMasterIdLst>
    <p:notesMasterId r:id="rId9"/>
  </p:notesMasterIdLst>
  <p:sldIdLst>
    <p:sldId id="256" r:id="rId2"/>
    <p:sldId id="257" r:id="rId3"/>
    <p:sldId id="260" r:id="rId4"/>
    <p:sldId id="258" r:id="rId5"/>
    <p:sldId id="265" r:id="rId6"/>
    <p:sldId id="277" r:id="rId7"/>
    <p:sldId id="278" r:id="rId8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1FEFF"/>
    <a:srgbClr val="424857"/>
    <a:srgbClr val="40465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53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-414" y="-6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123405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2503170"/>
            <a:ext cx="6480048" cy="172593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158609"/>
            <a:ext cx="6480048" cy="131445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2687878"/>
            <a:ext cx="6629400" cy="1369772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1864350"/>
            <a:ext cx="6629400" cy="800016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26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4114800"/>
            <a:ext cx="4040188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4114800"/>
            <a:ext cx="4041775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137685"/>
            <a:ext cx="4040188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137685"/>
            <a:ext cx="4041775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7470648" cy="85725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889146"/>
            <a:ext cx="3200400" cy="547688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60818"/>
            <a:ext cx="2743200" cy="6858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70866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4816548"/>
            <a:ext cx="762000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279282"/>
            <a:ext cx="3053868" cy="940356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249074"/>
            <a:ext cx="3053866" cy="199761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816548"/>
            <a:ext cx="2133600" cy="273844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22294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7467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4816548"/>
            <a:ext cx="2133600" cy="273844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4816548"/>
            <a:ext cx="2895600" cy="273844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4816548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647" r:id="rId1"/>
    <p:sldLayoutId id="2147484648" r:id="rId2"/>
    <p:sldLayoutId id="2147484649" r:id="rId3"/>
    <p:sldLayoutId id="2147484650" r:id="rId4"/>
    <p:sldLayoutId id="2147484651" r:id="rId5"/>
    <p:sldLayoutId id="2147484652" r:id="rId6"/>
    <p:sldLayoutId id="2147484653" r:id="rId7"/>
    <p:sldLayoutId id="2147484654" r:id="rId8"/>
    <p:sldLayoutId id="2147484655" r:id="rId9"/>
    <p:sldLayoutId id="2147484656" r:id="rId10"/>
    <p:sldLayoutId id="2147484657" r:id="rId11"/>
    <p:sldLayoutId id="2147484658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49704" y="1538288"/>
            <a:ext cx="30444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 err="1">
                <a:solidFill>
                  <a:srgbClr val="81FEFF"/>
                </a:solidFill>
                <a:latin typeface="Arial" pitchFamily="34" charset="0"/>
                <a:cs typeface="Arial" pitchFamily="34" charset="-120"/>
              </a:rPr>
              <a:t>ShoeStore</a:t>
            </a:r>
            <a:endParaRPr lang="en-US" sz="4500" dirty="0">
              <a:solidFill>
                <a:srgbClr val="81FEFF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2795735" y="2376488"/>
            <a:ext cx="3552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32445" y="3048001"/>
            <a:ext cx="74789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Современное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электронной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коммерции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Kotlin &amp; Jetpack Compose</a:t>
            </a:r>
            <a:endParaRPr lang="en-US" sz="1350" dirty="0">
              <a:solidFill>
                <a:schemeClr val="accent2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3044087" y="3452813"/>
            <a:ext cx="30556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endParaRPr lang="en-US" sz="1050" dirty="0"/>
          </a:p>
        </p:txBody>
      </p:sp>
      <p:sp>
        <p:nvSpPr>
          <p:cNvPr id="7" name="Text 2"/>
          <p:cNvSpPr/>
          <p:nvPr/>
        </p:nvSpPr>
        <p:spPr>
          <a:xfrm>
            <a:off x="929641" y="4305300"/>
            <a:ext cx="2926080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ru-RU" sz="1350" dirty="0" smtClean="0">
                <a:solidFill>
                  <a:schemeClr val="bg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-120"/>
              </a:rPr>
              <a:t>Выполнил: Студент группы ИС-22Б</a:t>
            </a:r>
          </a:p>
          <a:p>
            <a:pPr marL="0" indent="0" algn="ctr">
              <a:lnSpc>
                <a:spcPts val="1215"/>
              </a:lnSpc>
              <a:buNone/>
            </a:pPr>
            <a:r>
              <a:rPr lang="ru-RU" sz="1350" dirty="0" err="1" smtClean="0">
                <a:solidFill>
                  <a:schemeClr val="bg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-120"/>
              </a:rPr>
              <a:t>Куруч</a:t>
            </a:r>
            <a:r>
              <a:rPr lang="ru-RU" sz="1350" dirty="0" smtClean="0">
                <a:solidFill>
                  <a:schemeClr val="bg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-120"/>
              </a:rPr>
              <a:t> Дмитрий Александрович</a:t>
            </a:r>
            <a:endParaRPr lang="en-US" sz="1350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 2"/>
          <p:cNvSpPr/>
          <p:nvPr/>
        </p:nvSpPr>
        <p:spPr>
          <a:xfrm>
            <a:off x="984845" y="120015"/>
            <a:ext cx="74789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15"/>
              </a:lnSpc>
            </a:pPr>
            <a:r>
              <a:rPr lang="ru-RU" sz="14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Государственное бюджетное профессиональное образовательное учреждение "Заволжский автомоторный техникум"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" y="205680"/>
            <a:ext cx="377190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</a:t>
            </a:r>
            <a:r>
              <a:rPr lang="en-US" sz="2700" b="1" dirty="0" err="1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Проекте</a:t>
            </a:r>
            <a:r>
              <a:rPr lang="en-US" sz="2700" b="1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 err="1">
                <a:solidFill>
                  <a:srgbClr val="81FEFF"/>
                </a:solidFill>
                <a:latin typeface="Arial" pitchFamily="34" charset="0"/>
                <a:cs typeface="Arial" pitchFamily="34" charset="-120"/>
              </a:rPr>
              <a:t>ShoeStore</a:t>
            </a:r>
            <a:endParaRPr lang="en-US" sz="2700" dirty="0">
              <a:solidFill>
                <a:srgbClr val="81FE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1920" y="3023279"/>
            <a:ext cx="6217920" cy="1451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 приложение электронной коммерции (Магазин обуви)</a:t>
            </a:r>
            <a:endParaRPr lang="en-US" sz="1350" dirty="0">
              <a:solidFill>
                <a:schemeClr val="accent2"/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13.0 (API 33)</a:t>
            </a:r>
            <a:endParaRPr lang="en-US" sz="1350" dirty="0">
              <a:solidFill>
                <a:schemeClr val="accent2"/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Язык: 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sz="1350" dirty="0">
              <a:solidFill>
                <a:schemeClr val="accent2"/>
              </a:solidFill>
            </a:endParaRPr>
          </a:p>
        </p:txBody>
      </p:sp>
      <p:sp>
        <p:nvSpPr>
          <p:cNvPr id="8" name="Text 1"/>
          <p:cNvSpPr/>
          <p:nvPr/>
        </p:nvSpPr>
        <p:spPr>
          <a:xfrm>
            <a:off x="121920" y="1173480"/>
            <a:ext cx="6217920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</a:pPr>
            <a:r>
              <a:rPr lang="ru-RU" sz="1400" dirty="0" err="1" smtClean="0">
                <a:solidFill>
                  <a:srgbClr val="81FEFF"/>
                </a:solidFill>
              </a:rPr>
              <a:t>ShoeStore</a:t>
            </a:r>
            <a:r>
              <a:rPr lang="ru-RU" sz="1400" dirty="0" smtClean="0"/>
              <a:t> </a:t>
            </a:r>
            <a:r>
              <a:rPr lang="ru-RU" sz="1400" dirty="0" smtClean="0">
                <a:solidFill>
                  <a:schemeClr val="accent2"/>
                </a:solidFill>
              </a:rPr>
              <a:t>— это мобильное приложение нового поколения для всех, кто увлечен качественной обувью и стильными кроссовками. Наша платформа разработана, чтобы сделать поиск и покупку идеальной пары максимально простым, удобным и приятным</a:t>
            </a:r>
            <a:endParaRPr lang="en-US" sz="1350" dirty="0">
              <a:solidFill>
                <a:schemeClr val="accent2"/>
              </a:solidFill>
            </a:endParaRPr>
          </a:p>
        </p:txBody>
      </p:sp>
      <p:pic>
        <p:nvPicPr>
          <p:cNvPr id="2052" name="Picture 4" descr="D:\Kuruch\Practica\Publication\Skrinshot\Экран Встречи.png"/>
          <p:cNvPicPr>
            <a:picLocks noChangeAspect="1" noChangeArrowheads="1"/>
          </p:cNvPicPr>
          <p:nvPr/>
        </p:nvPicPr>
        <p:blipFill>
          <a:blip r:embed="rId3"/>
          <a:srcRect l="7095" t="8989" r="6749" b="6324"/>
          <a:stretch>
            <a:fillRect/>
          </a:stretch>
        </p:blipFill>
        <p:spPr bwMode="auto">
          <a:xfrm>
            <a:off x="6446520" y="1020901"/>
            <a:ext cx="1295400" cy="272796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600"/>
            <a:ext cx="792480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 </a:t>
            </a:r>
            <a:r>
              <a:rPr lang="en-US" sz="2700" b="1" dirty="0" err="1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Вариантов</a:t>
            </a:r>
            <a:r>
              <a:rPr lang="en-US" sz="2700" b="1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Использования</a:t>
            </a:r>
            <a:endParaRPr lang="en-US" sz="2700" dirty="0">
              <a:solidFill>
                <a:srgbClr val="81FEFF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2E28F3A4-E4E9-D4B1-E0D3-65C57B673191}"/>
              </a:ext>
            </a:extLst>
          </p:cNvPr>
          <p:cNvSpPr/>
          <p:nvPr/>
        </p:nvSpPr>
        <p:spPr>
          <a:xfrm>
            <a:off x="787078" y="3320680"/>
            <a:ext cx="1095063" cy="426718"/>
          </a:xfrm>
          <a:prstGeom prst="rect">
            <a:avLst/>
          </a:prstGeom>
          <a:solidFill>
            <a:srgbClr val="81FEFF"/>
          </a:solidFill>
          <a:ln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88D22D2F-0E34-F95D-CFD5-B9633EFC7B2D}"/>
              </a:ext>
            </a:extLst>
          </p:cNvPr>
          <p:cNvCxnSpPr>
            <a:cxnSpLocks/>
            <a:stCxn id="6" idx="2"/>
            <a:endCxn id="3" idx="2"/>
          </p:cNvCxnSpPr>
          <p:nvPr/>
        </p:nvCxnSpPr>
        <p:spPr>
          <a:xfrm flipH="1">
            <a:off x="1334610" y="1733312"/>
            <a:ext cx="1216121" cy="2014086"/>
          </a:xfrm>
          <a:prstGeom prst="line">
            <a:avLst/>
          </a:prstGeom>
          <a:ln>
            <a:solidFill>
              <a:srgbClr val="81F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>
            <a:extLst>
              <a:ext uri="{FF2B5EF4-FFF2-40B4-BE49-F238E27FC236}">
                <a16:creationId xmlns:a16="http://schemas.microsoft.com/office/drawing/2014/main" xmlns="" id="{E15557DC-B060-2BC4-9CC3-B92741C1CDC2}"/>
              </a:ext>
            </a:extLst>
          </p:cNvPr>
          <p:cNvSpPr/>
          <p:nvPr/>
        </p:nvSpPr>
        <p:spPr>
          <a:xfrm>
            <a:off x="2550731" y="1432322"/>
            <a:ext cx="1584960" cy="601980"/>
          </a:xfrm>
          <a:prstGeom prst="ellipse">
            <a:avLst/>
          </a:prstGeom>
          <a:solidFill>
            <a:srgbClr val="81FE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Вход/Регистрация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736506F9-89A9-6DD2-C530-3167E4F96F0A}"/>
              </a:ext>
            </a:extLst>
          </p:cNvPr>
          <p:cNvSpPr/>
          <p:nvPr/>
        </p:nvSpPr>
        <p:spPr>
          <a:xfrm>
            <a:off x="4033931" y="1816257"/>
            <a:ext cx="1516379" cy="601980"/>
          </a:xfrm>
          <a:prstGeom prst="ellipse">
            <a:avLst/>
          </a:prstGeom>
          <a:solidFill>
            <a:srgbClr val="81FE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каталога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7AE12647-E60F-A9CB-72D6-5D57285FC1F8}"/>
              </a:ext>
            </a:extLst>
          </p:cNvPr>
          <p:cNvSpPr/>
          <p:nvPr/>
        </p:nvSpPr>
        <p:spPr>
          <a:xfrm>
            <a:off x="4387404" y="3019690"/>
            <a:ext cx="1516378" cy="601980"/>
          </a:xfrm>
          <a:prstGeom prst="ellipse">
            <a:avLst/>
          </a:prstGeom>
          <a:solidFill>
            <a:srgbClr val="81FE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в избранное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94AE9996-74A8-5FD3-74AB-98DA3A06E73E}"/>
              </a:ext>
            </a:extLst>
          </p:cNvPr>
          <p:cNvSpPr/>
          <p:nvPr/>
        </p:nvSpPr>
        <p:spPr>
          <a:xfrm>
            <a:off x="5903782" y="3621670"/>
            <a:ext cx="1381439" cy="601980"/>
          </a:xfrm>
          <a:prstGeom prst="ellipse">
            <a:avLst/>
          </a:prstGeom>
          <a:solidFill>
            <a:srgbClr val="81FE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</a:t>
            </a:r>
            <a:b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избранного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xmlns="" id="{84C35D00-36BB-61CB-83E1-20850E1383F9}"/>
              </a:ext>
            </a:extLst>
          </p:cNvPr>
          <p:cNvSpPr/>
          <p:nvPr/>
        </p:nvSpPr>
        <p:spPr>
          <a:xfrm>
            <a:off x="4522343" y="4187718"/>
            <a:ext cx="1381439" cy="601980"/>
          </a:xfrm>
          <a:prstGeom prst="ellipse">
            <a:avLst/>
          </a:prstGeom>
          <a:solidFill>
            <a:srgbClr val="81FE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</a:t>
            </a:r>
            <a:b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профиля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xmlns="" id="{15C153D0-21B4-4E6E-5A5B-16A97E4D6D08}"/>
              </a:ext>
            </a:extLst>
          </p:cNvPr>
          <p:cNvSpPr/>
          <p:nvPr/>
        </p:nvSpPr>
        <p:spPr>
          <a:xfrm>
            <a:off x="5415370" y="2236470"/>
            <a:ext cx="1381439" cy="601980"/>
          </a:xfrm>
          <a:prstGeom prst="ellipse">
            <a:avLst/>
          </a:prstGeom>
          <a:solidFill>
            <a:srgbClr val="81FE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карточки товара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A38B19BA-7223-45F4-8144-07F4CF29862F}"/>
              </a:ext>
            </a:extLst>
          </p:cNvPr>
          <p:cNvCxnSpPr>
            <a:cxnSpLocks/>
            <a:stCxn id="9" idx="7"/>
            <a:endCxn id="3" idx="2"/>
          </p:cNvCxnSpPr>
          <p:nvPr/>
        </p:nvCxnSpPr>
        <p:spPr>
          <a:xfrm flipH="1">
            <a:off x="1334610" y="3709828"/>
            <a:ext cx="5748304" cy="37570"/>
          </a:xfrm>
          <a:prstGeom prst="line">
            <a:avLst/>
          </a:prstGeom>
          <a:ln>
            <a:solidFill>
              <a:srgbClr val="81F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D786789B-9A72-0D9E-D28C-61626275F8E9}"/>
              </a:ext>
            </a:extLst>
          </p:cNvPr>
          <p:cNvCxnSpPr>
            <a:cxnSpLocks/>
            <a:stCxn id="11" idx="7"/>
            <a:endCxn id="3" idx="2"/>
          </p:cNvCxnSpPr>
          <p:nvPr/>
        </p:nvCxnSpPr>
        <p:spPr>
          <a:xfrm flipH="1" flipV="1">
            <a:off x="1334610" y="3747398"/>
            <a:ext cx="4366865" cy="528478"/>
          </a:xfrm>
          <a:prstGeom prst="line">
            <a:avLst/>
          </a:prstGeom>
          <a:ln>
            <a:solidFill>
              <a:srgbClr val="81F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xmlns="" id="{D70F57CE-C0CB-5065-F6DC-E68E3F2C84F1}"/>
              </a:ext>
            </a:extLst>
          </p:cNvPr>
          <p:cNvCxnSpPr>
            <a:cxnSpLocks/>
            <a:stCxn id="12" idx="7"/>
            <a:endCxn id="3" idx="2"/>
          </p:cNvCxnSpPr>
          <p:nvPr/>
        </p:nvCxnSpPr>
        <p:spPr>
          <a:xfrm flipH="1">
            <a:off x="1334610" y="2324628"/>
            <a:ext cx="5259892" cy="1422770"/>
          </a:xfrm>
          <a:prstGeom prst="line">
            <a:avLst/>
          </a:prstGeom>
          <a:ln>
            <a:solidFill>
              <a:srgbClr val="81F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3E16FEF0-DEA1-3AD4-B44F-846440C7DF17}"/>
              </a:ext>
            </a:extLst>
          </p:cNvPr>
          <p:cNvCxnSpPr>
            <a:cxnSpLocks/>
            <a:stCxn id="8" idx="1"/>
            <a:endCxn id="3" idx="2"/>
          </p:cNvCxnSpPr>
          <p:nvPr/>
        </p:nvCxnSpPr>
        <p:spPr>
          <a:xfrm flipH="1">
            <a:off x="1334610" y="3107848"/>
            <a:ext cx="3274863" cy="639550"/>
          </a:xfrm>
          <a:prstGeom prst="line">
            <a:avLst/>
          </a:prstGeom>
          <a:ln>
            <a:solidFill>
              <a:srgbClr val="81F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xmlns="" id="{09660EF4-E3E0-9FD4-15A8-CA54B79E006C}"/>
              </a:ext>
            </a:extLst>
          </p:cNvPr>
          <p:cNvCxnSpPr>
            <a:cxnSpLocks/>
            <a:stCxn id="3" idx="2"/>
            <a:endCxn id="7" idx="1"/>
          </p:cNvCxnSpPr>
          <p:nvPr/>
        </p:nvCxnSpPr>
        <p:spPr>
          <a:xfrm flipV="1">
            <a:off x="1334610" y="1904415"/>
            <a:ext cx="2921390" cy="1842983"/>
          </a:xfrm>
          <a:prstGeom prst="line">
            <a:avLst/>
          </a:prstGeom>
          <a:ln>
            <a:solidFill>
              <a:srgbClr val="81F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Архитектуры</a:t>
            </a:r>
            <a:endParaRPr lang="en-US" sz="2700" dirty="0">
              <a:solidFill>
                <a:srgbClr val="81FE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14300" y="1950720"/>
            <a:ext cx="707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 smtClean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</a:t>
            </a:r>
            <a:r>
              <a:rPr lang="en-US" sz="1350" dirty="0" smtClean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 (Model-View-</a:t>
            </a: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>
              <a:solidFill>
                <a:schemeClr val="accent2"/>
              </a:solidFill>
            </a:endParaRPr>
          </a:p>
          <a:p>
            <a:pPr marL="800100" lvl="1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</a:t>
            </a:r>
            <a:r>
              <a:rPr lang="en-US" sz="1350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данных: </a:t>
            </a: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Однонаправленный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smtClean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400" dirty="0" smtClean="0">
                <a:solidFill>
                  <a:schemeClr val="accent2"/>
                </a:solidFill>
              </a:rPr>
              <a:t>API → Repository → </a:t>
            </a:r>
            <a:r>
              <a:rPr lang="en-US" sz="1400" dirty="0" err="1" smtClean="0">
                <a:solidFill>
                  <a:schemeClr val="accent2"/>
                </a:solidFill>
              </a:rPr>
              <a:t>ViewModel</a:t>
            </a:r>
            <a:r>
              <a:rPr lang="en-US" sz="1400" dirty="0" smtClean="0">
                <a:solidFill>
                  <a:schemeClr val="accent2"/>
                </a:solidFill>
              </a:rPr>
              <a:t> → View</a:t>
            </a:r>
            <a:r>
              <a:rPr lang="en-US" sz="1350" dirty="0" smtClean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50" dirty="0">
              <a:solidFill>
                <a:schemeClr val="accent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800100" lvl="1" indent="-342900">
              <a:lnSpc>
                <a:spcPts val="2430"/>
              </a:lnSpc>
              <a:buSzPct val="100000"/>
              <a:buChar char="•"/>
            </a:pPr>
            <a:r>
              <a:rPr lang="en-US" sz="1350" dirty="0" err="1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sz="1350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тестируется</a:t>
            </a:r>
            <a:r>
              <a:rPr lang="en-US" sz="135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</a:t>
            </a:r>
            <a:endParaRPr lang="en-US" sz="135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Стек Библиотек</a:t>
            </a:r>
            <a:endParaRPr lang="en-US" sz="2700" dirty="0">
              <a:solidFill>
                <a:srgbClr val="81FE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Jetpack</a:t>
            </a:r>
            <a:endParaRPr lang="en-US" sz="1140" dirty="0">
              <a:solidFill>
                <a:srgbClr val="81FEFF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1148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Compose 1.6.0</a:t>
            </a:r>
            <a:endParaRPr lang="en-US" sz="1140" dirty="0">
              <a:solidFill>
                <a:schemeClr val="accent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57341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3</a:t>
            </a:r>
            <a:endParaRPr lang="en-US" sz="114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73533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Navigation</a:t>
            </a:r>
            <a:endParaRPr lang="en-US" sz="114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234434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Сетевые технологии</a:t>
            </a:r>
            <a:endParaRPr lang="en-US" sz="1140" dirty="0">
              <a:solidFill>
                <a:srgbClr val="81FE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58246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Retrofit 2.10</a:t>
            </a:r>
            <a:endParaRPr lang="en-US" sz="1140" dirty="0">
              <a:solidFill>
                <a:schemeClr val="accent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74439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OkHttp 4.11</a:t>
            </a:r>
            <a:endParaRPr lang="en-US" sz="1140" dirty="0">
              <a:solidFill>
                <a:schemeClr val="accent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90631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Gson</a:t>
            </a:r>
            <a:endParaRPr lang="en-US" sz="1140" dirty="0">
              <a:solidFill>
                <a:schemeClr val="accent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515320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Асинхронность</a:t>
            </a:r>
            <a:endParaRPr lang="en-US" sz="1140" dirty="0">
              <a:solidFill>
                <a:srgbClr val="81FEF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3753445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Coroutines 1.7</a:t>
            </a:r>
            <a:endParaRPr lang="en-US" sz="1140" dirty="0">
              <a:solidFill>
                <a:schemeClr val="accent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3915370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Flow</a:t>
            </a:r>
            <a:endParaRPr lang="en-US" sz="1140" dirty="0">
              <a:solidFill>
                <a:schemeClr val="accent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4077295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Kotlin 1.9</a:t>
            </a:r>
            <a:endParaRPr lang="en-US" sz="114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Стек Технологий</a:t>
            </a:r>
            <a:endParaRPr lang="en-US" sz="2700" dirty="0">
              <a:solidFill>
                <a:srgbClr val="81FE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Язык: </a:t>
            </a:r>
            <a:r>
              <a:rPr lang="en-US" sz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779984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Фреймворк: </a:t>
            </a:r>
            <a:r>
              <a:rPr lang="en-US" sz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Compose + Material Design 3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2287786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</a:t>
            </a:r>
            <a:r>
              <a:rPr lang="en-US" sz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237351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753122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rgbClr val="81F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Навигация: </a:t>
            </a:r>
            <a:r>
              <a:rPr lang="en-US" sz="1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Navigation Compose</a:t>
            </a:r>
            <a:endParaRPr lang="en-US" sz="12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07080" y="197158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хническ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117</TotalTime>
  <Words>194</Words>
  <Application>Microsoft Office PowerPoint</Application>
  <PresentationFormat>Экран (16:9)</PresentationFormat>
  <Paragraphs>47</Paragraphs>
  <Slides>7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Техническая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Company>Perplexity AI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android243</cp:lastModifiedBy>
  <cp:revision>10</cp:revision>
  <dcterms:created xsi:type="dcterms:W3CDTF">2025-12-19T20:15:46Z</dcterms:created>
  <dcterms:modified xsi:type="dcterms:W3CDTF">2026-03-06T11:33:37Z</dcterms:modified>
</cp:coreProperties>
</file>